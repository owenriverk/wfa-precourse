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Wilderness First Aid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Foundations &amp; Core Skills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Certification Course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1234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Safety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16459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60520" y="1234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1605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37560" y="2057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Assessment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2560320" cy="16459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1234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80760" y="2057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560320" cy="16459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417320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4360" y="3886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&amp; Wounds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2926080"/>
            <a:ext cx="2560320" cy="16459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60520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37560" y="3886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2926080"/>
            <a:ext cx="2560320" cy="16459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080760" y="3886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Safety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safety, scope, and legal considerations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as a WFA Provider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WFA is (and isn't)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practice in wilderness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to act and when it applies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Samaritan protections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4389120"/>
            <a:ext cx="347472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0" y="50292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Safety: Stop, Look, Think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STOP — Assess before entering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 to approach?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LOOK — Identify hazards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unstable terrain, downed power lines, hostile people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THINK — Is it safe? What resources do I need?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responder helps no one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— Your First Line of Defense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(nitrile minimum)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protection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Mask/face shield (for rescue breaths)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hygiene after removal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4114800"/>
            <a:ext cx="3474720" cy="2926080"/>
          </a:xfrm>
          <a:prstGeom prst="ellipse">
            <a:avLst/>
          </a:prstGeom>
          <a:solidFill>
            <a:srgbClr val="A8D5E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0" y="47548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Patient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Legal Considerations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Conscious adult who understands and agrees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Unconscious or minor without guardian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Document, witness, do NOT abandon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Size-Up Checklist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Scene safety — Hazards present?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BSI/PPE — Don protection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Number of patients — One? Multiple?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MOI/NOI — Mechanism or Nature of Illness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Additional resources — Do I need help?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General impression — Severity assessment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EVERY time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Assessment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XABCDE Primary Survey, Secondary Survey, Vitals, Documentation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Survey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Assessment (every 15 min)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Systematic?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resources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backup available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definitive care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= treatment plan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Survey: XABCDE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eXsanguination — Stop life-threatening hemorrhage NOW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371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4173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— Open, clear, maintain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371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19202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— Rate, effort, effectiveness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1371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4231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— Pulse, skin signs, shock signs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1371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26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29260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— AVPU, pupils, neuro exam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1371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29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429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Expose/Environment — Find injuries, prevent hypothermia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Consciousness: AVPU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× 4 (person, place, time, events)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voice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pain stimulus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743200"/>
            <a:ext cx="393192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Unresponsive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291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V, P, or U = serious — evacuate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Survey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components: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History — signs, symptoms, allergies, meds, pertinent history, last intake, events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OPQRST — if pain is present, characterize it thoroughly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Head-to-Toe Exam (DCAP-BTLS) — systematic physical assessment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Patient History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914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 feeling? What do you observe?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371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Medications, food, environmental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meds and last dose taken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 History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2286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conditions, prior injuries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Oral Intake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2743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water, when consumed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Leading Up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26080" y="3200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When? How?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OPQRST — Assessing Pain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— When did it start? Sudden or gradual?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Provocation/Palliation — What makes it better/worse?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— Sharp, dull, burning, crushing?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9144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— Does pain go anywhere else?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21488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— Scale 1–10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38328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Constant or intermittent? Worse?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Head-to-Toe Physical Exam: DCAP-BTLS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Deformity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Contusions (bruising)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Abrasions (scrapes)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Punctures/Penetrations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Burns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Tenderness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Lacerations (cuts)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Swelling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Sequence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Vitals — What to Measure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rhythm, quality (normal 60–100 bpm)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93192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effort, sounds (normal 12–20/min)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temperature, moisture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393192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Consciousness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2918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AVPU (Alert, Verbal, Pain, Unresponsive)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every 15 min (unstable) or 30 min (stable)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 Format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6002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51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history, complaints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931920" cy="16002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051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Vitals, exam findings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3931920" cy="16002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problem list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697480"/>
            <a:ext cx="3931920" cy="16002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2918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and evacuation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Management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Opening, positioning, and maintaining the airway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Anatomy Basics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Structures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Mouth/Nose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Pharynx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Larynx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obstruction kills in minutes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airway is your FIRST priority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Airway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Head-Tilt Chin-Lift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spinal injury suspected; simple technique; most effective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 Thrust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spinal injury suspected; two-rescuer preferred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breathing, position of comfort. If not, open NOW.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Positioning by Condition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Unconscious, breathing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position (left lateral)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Respiratory distress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Sitting up, leaning forward (tripod)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Shock (no spinal concern)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Supine, legs elevated 6–12 inches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Spinal injury suspected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supine, stabilize head/neck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Airway Obstruction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 Patient: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coughing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blows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thrusts (Heimlich)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 Patient: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airway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visible foreign bodies ONLY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ventilation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Provide Rescue Breaths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Indications: Respiratory arrest (no breathing), gasping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Seal mouth/nose, slow breath over 1 second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1 breath every 5–6 seconds (10–12 breaths/min)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effectiveness: Chest rise, air escape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Wilderness context: When to stop resuscitation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&amp; Wound Management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closure, special considerations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Bleeding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30175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Bright 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Spurting, life-threatening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697480" cy="30175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097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Dark 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Flowing, serious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697480" cy="301752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097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Capillary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Oozing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3774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field — control ALL bleeding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Pressure — Your First Response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Don PPE (gloves, eye protection)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Apply firm pressure with clean cloth/gauze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Hold for 10+ minutes — do NOT peek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soaks through — add more material ON TOP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Assess effectiveness when time is up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minutes. Don't lift and check.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Tourniquets — When Direct Pressure Fails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Extremity hemorrhage not controlled by direct pressure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Life-threatening bleeding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Amputation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Technique: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2–3 inches proximal (above) the wound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tighten until bleeding stops completely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TIME applied (write on tourniquet or patient)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remove in field • Do NOT cover it • Monitor distal circulation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Wound: Irrigation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 liter clean water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matters (syringe 18–20 gauge)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contaminants and bacteria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Infection to Monitor: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0" y="42976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 and warmth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 or drainage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streaking (lymphangitis)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Wounds in the Field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Options: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closures / Steri-Strips — simple, quick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closure staples — if trained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close: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contaminated wounds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 wounds (risk of infection)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infection already present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Always: Dress, bandage, monitor for infection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Wound Considerations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6002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Impaled Objects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in place, do NOT remove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931920" cy="16002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Chest Wounds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Occlusive dressing (3-sided seal)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931920" cy="16002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Evisceration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 dressing, do NOT push back 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697480"/>
            <a:ext cx="3931920" cy="16002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Amputations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2461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pressure on stump, cool and preserve part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Recognition &amp; Management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inadequate tissue perfusion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Shock?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tissue perfusion — cells aren't getting oxygen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"feeling faint" — a LIFE-THREATENING cellular emergency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Types in Wilderness: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Hypovolemic (blood/fluid loss) — MOST common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(septic, anaphylactic, neurogenic)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Shock: Signs &amp; Symptoms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2004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(Compensated)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Anxiety, restlessness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Tachycardia (fast HR)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Pale, cool, clammy skin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delayed cap refill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(Decompensated)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LOC, confusion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rapid, WEAK pulse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hypotension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Mottled, ashy skin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EARLY — late shock is extremely difficult to reverse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Shock in the Field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Control hemorrhage (X in XABCDE)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airway, high-flow O₂ if available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Position: Supine, elevate legs 6–12 inches (if no spinal injury)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Maintain warmth — hypothermia worsens shock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Oral fluids if alert, not nauseated, no abdominal injury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Evacuate URGENTLY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Resuscitation &amp; Positioning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Fluids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IF: Alert, not nauseated, can swallow, no abdominal pain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IF: Unconscious, vomiting, abdominal injury suspected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Position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Supine, legs elevated 6–12 inches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elevate if spinal or chest injury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patient warm (prevent hypothermia)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Types &amp; Specific Treatments</a:t>
            </a:r>
            <a:endParaRPr lang="en-US" sz="3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Hypovolemic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Blood/fluid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bleeding, fluids, positioning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Anaphylactic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allergy reaction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Epinephrine (IM), antihistamines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Neurogenic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Spinal cord injury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Stabilize spine, do NOT elevate legs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Infection/fever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 if available, evacuation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Injuries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Fractures, dislocations, sprains, strains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Bones, Joints &amp; Soft Tissue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— break in bone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Dislocation — joint surfaces separated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Sprain — ligament injury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— muscle/tendon injury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field — treat it as a fracture if you can't rule it out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Assessment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DCAP-BTLS (Deformity, Contusions, Abrasions, Penetrations, Burns, Tenderness, Lacerations, Swelling)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tenderness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Crepitus (bone crunching)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— pulse, cap refill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Sensation — can they feel?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— can they move distal parts?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 of Splinting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Assess CSM BEFORE splinting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Immobilize joint ABOVE and BELOW fracture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Pad bony prominences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Splint in position of function (or comfort)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Secure FIRM but NOT tight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Reassess CSM AFTER — frequently during evacuation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Improvised Splinting Materials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splint (rigid, adjustable)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Trekking poles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Sticks (lashed together)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41148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pads (rolled)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splinting (pillow, sling)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Extremity Injuries</a:t>
            </a:r>
            <a:endParaRPr lang="en-US" sz="3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Clavicle (collarbone)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Sling and swathe, no immobilization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Shoulder dislocation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if trained + prolonged evacuation; otherwise sling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Humerus (upper arm)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Sling, splint, pad elbow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Forearm (radius/ulna)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 splint, sling at 90 degrees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Wrist/hand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Pillow splint or SAM, elevate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Extremity Injuries</a:t>
            </a:r>
            <a:endParaRPr lang="en-US" sz="32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Femur (thighbone)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Traction splint if available, high blood loss (1–2L), urgent evacuation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extended, straight splint, wrap firmly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Tibia/Fibula (shin)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 splint, pillow or SAM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Pillow splint, air splint, elevation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splinting, elevation, monitor circulation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Priority: Open Fractures &amp; Dislocations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Fracture Management: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wound (do NOT push bone back in)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 if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Splint as you would a closed fracture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Antibiotics if available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evacuation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Dislocations: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CSM BEFORE attempting reduction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Neurovascular compromise → reduce if trained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splint in position found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CSM after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Scene safety and legal scope protect you and your patient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Systematic assessment (XABCDE → SAMPLE → OPQRST) guides treatment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Airway management is urgent — obstruction kills in minutes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Control hemorrhage first — stop ALL bleeding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Recognize shock early — treat before decompensation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Splint properly — assess CSM before AND after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Practice — Day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size-up and BSI (Body Substance Isolation)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XABCDE primary survey (instructor demo)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and OPQRST history taking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Head-to-toe physical exam (DCAP-BTLS)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pressure and tourniquet application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splinting (upper and lower extremity)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Spine, Environmental Emergencies, Medical Emergencies, and Evacuation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rest — Day 2 starts tomorrow morning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Wilderness First Aid - Day 1: Foundations &amp; Core Skills</dc:title>
  <dc:subject>PptxGenJS Presentation</dc:subject>
  <dc:creator>WFA Instructor</dc:creator>
  <cp:lastModifiedBy>WFA Instructor</cp:lastModifiedBy>
  <cp:revision>1</cp:revision>
  <dcterms:created xsi:type="dcterms:W3CDTF">2026-03-21T00:57:29Z</dcterms:created>
  <dcterms:modified xsi:type="dcterms:W3CDTF">2026-03-21T00:57:29Z</dcterms:modified>
</cp:coreProperties>
</file>