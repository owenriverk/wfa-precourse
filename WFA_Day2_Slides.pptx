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Wilderness First Aid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Environmental &amp; Special Emergencies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Certification Course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43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&amp; Head Injuries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83480" y="1143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0" y="1188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Emergencies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331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Emergencies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2331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52160" y="2377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520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3520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85216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 &amp; Stings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402336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709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554480" y="4754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Principles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&amp; Head Injuries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stabilization, and evacuation decisions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Suspect Spinal Injury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loading (fall from height, diving)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trauma (MVA, rollovers)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blow to spine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Distracting injury + altered LOC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+ symptoms = spinal precautions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the Spine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for: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Midline tenderness (palpate entire spine)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deficits (sensation/movement in extremities)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Distracting injuries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Clearance Criteria: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and oriented × 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midline tenderness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neurological deficit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distracting injury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intoxicated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the Spine in Wilderness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Criteria-based clearance: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selective criteria if patient meets ALL clearance requirements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CAN clear: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Alert, no tenderness, no neuro deficit, no distracting injury, not intoxicated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CANNOT clear: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doubt = immobilize and evacuate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590288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immobilize and evacuate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In-Line Stabilization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either side of head, maintain neutral position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Logroll: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 • Leader at head • Count-based roll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supine on firm surface • Minimum 4-person team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[Visual: Head stabilization technique]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Traumatic Brain Injury (TBI)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Serious TBI: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level of consciousness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headache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or amnesia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Vomiting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pupils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deformity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 Concussion: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Dizziness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problems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sensitivity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Rest, monitor, evacuate if any serious signs present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Evacuate — Spine &amp; Head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2860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(hours)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altered LOC • Neuro deficit • Suspected spinal injury with symptoms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Non-urgent but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Concussion with persistent symptoms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unclear situations with medical direction or send for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Emergencies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Mild to Life-Threatening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651760" cy="384048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Cramps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cramps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914400"/>
            <a:ext cx="2651760" cy="384048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91440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960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Exhaustion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sweating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moist skin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30175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2651760" cy="384048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91440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960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5544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LOC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Hot/dry skin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&gt;104°F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175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cooling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Distinction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47472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Exhaustion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Stroke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LOC: Normal or slightly altered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LOC: Altered or absent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Sweating: Heavy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Sweating: May stop (classic)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BP: Normal or 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BP: Very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Temperature: ≤104°F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Temperature: &gt;104°F (life-threatening)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Cooling for Heat Stroke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 Effectiveness: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water immersion (most effective if available)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packs to neck, armpits, groin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wet cloths + fanning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and remove insulating clothing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first, transport second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Heat Emergencies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56032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Cramps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Salt/electrolytes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56032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Exhaustion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4630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heat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down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fluids if alert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if no improvement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56032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14630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cooling NOW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IV/oral fluids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evacuation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vitals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Illness Prevention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Guidelines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regularly (don't wait until thirsty) • 500-1000mL per hour depending on activity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Acclimatization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10-14 days to adapt to hot environment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&amp; Activity Choices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loose clothing • Avoid midday strenuous activity • Take frequent breaks in shade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Emergencies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Hypothermia: Core Temperature Drop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temperature &lt; 95°F (35°C)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death in wilderness emergencies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clothing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exposure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temperatures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nutrition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of Hypothermia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200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95-90°F (35-32°C)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Shivering, confusion, poor coordination, slurred speech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90-86°F (32-30°C)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Shivering stops (bad sign!), severe confusion, muscle rigidity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&lt;86°F (&lt;30°C)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Unconscious, fixed/dilated pupils, no detectable pulse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Hypothermia in the Field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heat loss FIRST, then rewarm gently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Steps: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cold environment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wet clothing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 from ground (sleeping pad)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vapor barrier + sleeping bag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heat packs (armpits/groin only, NOT skin)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sweet drinks (mild hypothermia only)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gently (V-fib risk)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590288"/>
            <a:ext cx="7772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Hypothermic until warm and dead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Frostbite: Frozen Tissue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Frostbite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Waxy appearance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Pale, firm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on rewarming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Frostbite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3258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mummified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Hard, numb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tissue damage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Rewarm ONLY if no risk of re-freezing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heat immersion (104°F water)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thawed tissue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rub or apply dry heat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for medical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Frostnip &amp; Other Cold Injuries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Frostnip (Superficial Nipping):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patches on nose, ears, fingers • Painful on rewarm • Treatment: Gentle rewarm immediately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Trench Foot / Immersion Foot: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wet + cold • Serious damage without freezing • Numbness, pain, blistering • Keep feet dry and warm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insulation (boots, socks, gloves)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(wool/synthetic, not cotton)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dry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partners (recognize early signs)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Priorities — Cold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Hypothermia: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CPR unless pulse confirmed absent for &gt;60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gently (V-fib risk)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immediately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Hypothermia: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• Rewarm during transport • Monitor vitals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Frostbite: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to definitive care for wound management and possible surgical intervention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</a:t>
            </a:r>
            <a:endParaRPr lang="en-US" sz="4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Anaphylaxis?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Severe, systemic, life-threatening allergic reaction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Triggers: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(nuts, shellfish, eggs) • Insects (bees, wasps) • Medications (penicillin, contrast)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Course: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onset (minutes) • Can be biphasic (second reaction 8-12 hours later)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kill in minutes — know how to act fast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Anaphylaxis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Hives/urticaria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Late/Severe Signs: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Throat tightening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Stridor (breathing noise)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Wheezing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LOC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Criteria: Systemic reaction + known allergen exposure OR rapid multi-system involvement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Epinephrine: Act Fast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EpiPen Technique: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blue safety cap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orange tip against outer thigh (can go through clothing)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firmly until click heard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10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Massage injection site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mg (adult) • 0.15 mg (child &lt;30 kg)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repeat in 5-15 minutes if no improvement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5020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evacuation — effects are temporary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Sequence: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epinephrine immediately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Supine with legs elevated (if hypotensive) OR sitting upright (if breathing difficulty)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medications: Antihistamines (do NOT delay epinephrine)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100% if available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immediately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Post-Epinephrine: Monitor vitals, watch for biphasic reaction, transport for medical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Emergencies</a:t>
            </a:r>
            <a:endParaRPr lang="en-US" sz="4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Level of Consciousness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AEIOU-TIPS Differential: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2573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Alcohol/toxins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9105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139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Epilepsy/seizure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94767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47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705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(diabetic emergency)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30428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3271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Overdose/poisoning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66090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6837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Uremia (kidney failure)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0403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Trauma/temperature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3741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3969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Infection/sepsis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73075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7536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08736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1102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Stroke/shock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 vs. Hyperglycemia</a:t>
            </a:r>
            <a:endParaRPr lang="en-US" sz="3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46888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Hypoglycemia (Low Blood Sugar)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Hyperglycemia (High Blood Sugar)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Onset: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Onset: 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Sweating, shaky, confused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Fruity breath, excessive thirst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sugar if conscious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Evacuation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367588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uncertain — give sugar. You can't make hyperglycemia much worse in the field.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Seizures in the Field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Seizure: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from injury (move objects away)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restrain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put anything in mouth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seizure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Seizure: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recovery position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SAMPLE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for injuries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observations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if: First seizure • Prolonged (&gt;5 min) • Serial seizures • Unknown seizure disorder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— Act FAST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Drooping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Asymmetry, smile uneven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Weakness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side weaker than other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Difficulty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Slurred, confused, garbled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Evacuate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233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evacuation NOW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498848"/>
            <a:ext cx="7772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brain. Every minute matters.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&amp; Abdominal Emergencies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cardiac until proven otherwise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Differentials: MI, angina, pulmonary embolism, pneumothorax, aortic dissection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Rest, oxygen, aspirin (if conscious and no contraindications), evacuate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Pain: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Guarding/rigidity = surgical emergency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food/water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urgently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 &amp; Stings</a:t>
            </a:r>
            <a:endParaRPr lang="en-US" sz="4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Snakebite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calm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Immobilize limb below heart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constrictives (rings, bracelets)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swelling with pen +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and suck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Tourniquet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shock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520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Antivenom is the only effective treatment — get to a hospital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Wasp Stings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Sting (Non-allergic):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stinger (scrape, don't pinch)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pack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Antihistamine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Stings (&gt;10-20 in adults):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reaction possible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Anaphylaxis: Refer to Module 10 for epinephrine protocol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Removal &amp; Tick-Borne Illness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Technique: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Fine-tipped tweezers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near skin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pull (no twisting)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Vaseline • Heat • Twisting • Squeezing the body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Tick-Borne Illness Signs: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Lyme disease: Bull's-eye rash, fever, joint pain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Mountain Spotted Fever: Spotted rash on wrists/ankles, high fever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medical care if symptoms appear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Bites &amp; Marine Hazards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Widow: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Latrotoxin, muscle cramps, sweating → Supportive care, evacuate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Recluse: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Dermonecrotic → Cold pack, elevate, clean, medical eval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Hazards: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Jellyfish: Rinse with vinegar, hot water immersion (104-113°F) for pain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urchin spines: Hot water soak, remove spines carefully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Stingray: Hot water immersion, remove barb, monitor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Bites &amp; Rabies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Animal Bites: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irrigation (MOST IMPORTANT STEP)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close wound (infection risk)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Rabies Species: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 • Raccoons • Foxes • Skunks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Post-Exposure Prophylaxis (PEP):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medical evaluation and rabies vaccine series → Evacuate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Principles</a:t>
            </a:r>
            <a:endParaRPr lang="en-US" sz="4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Evacuation Decision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an emergency (life-threatening)?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Urgent evacuation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serious but stable?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Non-urgent evacuation with monitoring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minor and manageable?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Treat and monitor, may continue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solidFill>
            <a:srgbClr val="A8D5E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315968"/>
            <a:ext cx="7772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"What will happen to this patient if I wait 24 hours?"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vs. Non-Urgent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(Within Hours)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compromise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hemorrhage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LOC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spinal injury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stroke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hypothermia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fracture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84048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Non-Urgent (Within 24 Hours)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extremity fracture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wound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hypothermia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head injury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pain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burns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dehydration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Get Them 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Self-Rescue: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out with assistance • Patient stable • Nearby exit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Carry: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Improvised litter • Piggyback • Minimum 4-person team • Team leader calls changes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Rescue: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systems • Litter lowering • Requires specialized 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Helicopter Evacuation: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 selection • Safety protocols • Only when ground evacuation impossible/too slow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Improvised Litter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Two-Pole Frame Design: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stout poles (branches, ice axes, shovels)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clothing/tarps between poles (test weight capacity)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 patient from ground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patient to litter (prevent rolling)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2697480"/>
            <a:ext cx="45720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6974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[Visual: Improvised litter construction]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Team: Minimum 4 people • Leader at head calls rhythm • Monitor patient • Frequent breaks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Helicopter Landing Zone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 Selection Criteria: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Minimum 100' × 100' clear area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 Firm, clear of loose debris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Less than 8 degrees preferred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direction: Signal with smoke, stream, flag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LZ: Place lights at four corners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from front or side only (NEVER from rear — tail rotor hazard)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Crouch when running under rotor (protect head)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touch aircraft until crew signals all-clear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EMS: MIST Report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24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Injury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5331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this happen?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 Found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17627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find on exam?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770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Vitals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vital signs and observations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Given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for them?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"Fell 15 feet from ladder. Left ankle fracture, obvious deformity. Conscious, alert, normal vitals. Splinted ankle, given pain management, kept NPO."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Spine/Head: Assessment, stabilization, and evacuation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Heat: Cool first, transport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Stop heat loss first, then rewarm gently (hypothermic until warm and dead)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Anaphylaxis: Epinephrine immediately — it's the only field treatment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Know AEIOU-TIPS differential for altered LOC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Bites/Stings: Irrigation (most important), proper removal, watch for systemic reaction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Evacuation: Use decision framework — "What happens in 24 hours?"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Your Training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Wilderness Medicine Certifications: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WFR (Wilderness First Responder)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WAFA (Wilderness Advanced First Aid)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WEMT (Wilderness Emergency Medical Technician)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2-3 years to maintain credential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Current: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scene management scenarios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protocols and guidelines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refresher courses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a certified Wilderness First Aid provider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skills can save a life in the backcountry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Wilderness First Aid - Day 2</dc:title>
  <dc:subject>PptxGenJS Presentation</dc:subject>
  <dc:creator>Wilderness Medicine Instructor</dc:creator>
  <cp:lastModifiedBy>Wilderness Medicine Instructor</cp:lastModifiedBy>
  <cp:revision>1</cp:revision>
  <dcterms:created xsi:type="dcterms:W3CDTF">2026-03-21T01:06:44Z</dcterms:created>
  <dcterms:modified xsi:type="dcterms:W3CDTF">2026-03-21T01:06:44Z</dcterms:modified>
</cp:coreProperties>
</file>